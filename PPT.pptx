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52" y="-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3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Change Monitor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Insurance Compliance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volume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insurers face hundreds of regulatory changes monthly across federal agencies, 50+ state insurance departments, and international sanctions lists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bottleneck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spend weeks manually reviewing each change against every policy form — a process that doesn't scale with regulatory volume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6382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1181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complexity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1440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has unique requirements for the same product — domestic partner rules, free look periods, nonforfeiture standards all differ by jurisdiction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684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exposure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14400" y="41513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delayed responses to regulatory changes lead to late filings, non-compliant policy language, regulatory sanctions, and market conduct findings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434840" y="1097280"/>
            <a:ext cx="13716" cy="3474720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709160" y="1581912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4709160" y="1581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02920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multi-source monitoring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continuously scrape federal registers, state department of insurance bulletins, OFAC sanctions lists, and other regulatory sources across all applicable jurisdictions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709160" y="2386584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4709160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29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relevance classification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0" y="2542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regulation is read and analyzed by AI agents that determine relevance to the carrier's specific product lines, assign severity, and identify affected states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709160" y="3191256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4709160" y="3191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029200" y="3118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impact mapping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0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identifies which specific policy forms and clauses are affected — then AI confirms the match and describes the compliance impact per jurisdiction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709160" y="3995928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4709160" y="3995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02920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compliance memos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02920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impacted regulation, the system generates structured memos with state-specific action items, compliance deadlines, and recommended next steps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/>
          <p:nvPr/>
        </p:nvSpPr>
        <p:spPr>
          <a:xfrm>
            <a:off x="121534" y="4818888"/>
            <a:ext cx="85652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Weeks of manual compliance work → minutes of automated intelligence. Scalable to any carrier, any state, any line of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Multi-Agent AI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working in sequence — each performs one task exceptionally well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93392" cy="5029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65760" cy="365760"/>
          </a:xfrm>
          <a:prstGeom prst="ellipse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" y="1618488"/>
            <a:ext cx="868680" cy="2926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6642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1344168" y="1618488"/>
            <a:ext cx="868680" cy="292608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166420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365760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438912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Federal Register API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65760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438912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DOI bulletins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65760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38912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OFAC sanctions lists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65760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438912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Any additional sources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11480" y="3520440"/>
            <a:ext cx="1719072" cy="320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11480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captured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224028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487168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2487168" y="1051560"/>
            <a:ext cx="1993392" cy="5029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2578608" y="1115568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048" y="1207008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90088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2990088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596896" y="1618488"/>
            <a:ext cx="868680" cy="29260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16" y="1664208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852928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3557016" y="1618488"/>
            <a:ext cx="868680" cy="292608"/>
          </a:xfrm>
          <a:prstGeom prst="rect">
            <a:avLst/>
          </a:prstGeom>
          <a:solidFill>
            <a:srgbClr val="4A7FC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2736" y="1664208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813048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41" name="Shape 32"/>
          <p:cNvSpPr/>
          <p:nvPr/>
        </p:nvSpPr>
        <p:spPr>
          <a:xfrm>
            <a:off x="2578608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3"/>
          <p:cNvSpPr/>
          <p:nvPr/>
        </p:nvSpPr>
        <p:spPr>
          <a:xfrm>
            <a:off x="2651760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Reads each regulation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2578608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2651760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Life insurance relevant?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2578608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7"/>
          <p:cNvSpPr/>
          <p:nvPr/>
        </p:nvSpPr>
        <p:spPr>
          <a:xfrm>
            <a:off x="2651760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Assigns severity level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2578608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9"/>
          <p:cNvSpPr/>
          <p:nvPr/>
        </p:nvSpPr>
        <p:spPr>
          <a:xfrm>
            <a:off x="2651760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Identifies affected states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2624328" y="3520440"/>
            <a:ext cx="1719072" cy="3200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1"/>
          <p:cNvSpPr/>
          <p:nvPr/>
        </p:nvSpPr>
        <p:spPr>
          <a:xfrm>
            <a:off x="2624328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relevant items</a:t>
            </a:r>
            <a:endParaRPr lang="en-US" sz="9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2240280"/>
            <a:ext cx="182880" cy="18288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4700016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3"/>
          <p:cNvSpPr/>
          <p:nvPr/>
        </p:nvSpPr>
        <p:spPr>
          <a:xfrm>
            <a:off x="4700016" y="1051560"/>
            <a:ext cx="1993392" cy="5029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44"/>
          <p:cNvSpPr/>
          <p:nvPr/>
        </p:nvSpPr>
        <p:spPr>
          <a:xfrm>
            <a:off x="4791456" y="111556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2896" y="1207008"/>
            <a:ext cx="182880" cy="18288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5202936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5202936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4809744" y="1618488"/>
            <a:ext cx="868680" cy="2926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1664208"/>
            <a:ext cx="182880" cy="18288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5065776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700" dirty="0"/>
          </a:p>
        </p:txBody>
      </p:sp>
      <p:sp>
        <p:nvSpPr>
          <p:cNvPr id="61" name="Shape 49"/>
          <p:cNvSpPr/>
          <p:nvPr/>
        </p:nvSpPr>
        <p:spPr>
          <a:xfrm>
            <a:off x="5769864" y="1618488"/>
            <a:ext cx="868680" cy="292608"/>
          </a:xfrm>
          <a:prstGeom prst="rect">
            <a:avLst/>
          </a:prstGeom>
          <a:solidFill>
            <a:srgbClr val="3DA0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5584" y="1664208"/>
            <a:ext cx="182880" cy="18288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025896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</a:t>
            </a:r>
            <a:endParaRPr lang="en-US" sz="700" dirty="0"/>
          </a:p>
        </p:txBody>
      </p:sp>
      <p:sp>
        <p:nvSpPr>
          <p:cNvPr id="64" name="Shape 51"/>
          <p:cNvSpPr/>
          <p:nvPr/>
        </p:nvSpPr>
        <p:spPr>
          <a:xfrm>
            <a:off x="4791456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52"/>
          <p:cNvSpPr/>
          <p:nvPr/>
        </p:nvSpPr>
        <p:spPr>
          <a:xfrm>
            <a:off x="4864608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Searches policy vector DB</a:t>
            </a:r>
            <a:endParaRPr lang="en-US" sz="850" dirty="0"/>
          </a:p>
        </p:txBody>
      </p:sp>
      <p:sp>
        <p:nvSpPr>
          <p:cNvPr id="66" name="Shape 53"/>
          <p:cNvSpPr/>
          <p:nvPr/>
        </p:nvSpPr>
        <p:spPr>
          <a:xfrm>
            <a:off x="4791456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54"/>
          <p:cNvSpPr/>
          <p:nvPr/>
        </p:nvSpPr>
        <p:spPr>
          <a:xfrm>
            <a:off x="4864608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Finds matching clauses</a:t>
            </a:r>
            <a:endParaRPr lang="en-US" sz="850" dirty="0"/>
          </a:p>
        </p:txBody>
      </p:sp>
      <p:sp>
        <p:nvSpPr>
          <p:cNvPr id="68" name="Shape 55"/>
          <p:cNvSpPr/>
          <p:nvPr/>
        </p:nvSpPr>
        <p:spPr>
          <a:xfrm>
            <a:off x="4791456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56"/>
          <p:cNvSpPr/>
          <p:nvPr/>
        </p:nvSpPr>
        <p:spPr>
          <a:xfrm>
            <a:off x="4864608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confirms true impacts</a:t>
            </a:r>
            <a:endParaRPr lang="en-US" sz="850" dirty="0"/>
          </a:p>
        </p:txBody>
      </p:sp>
      <p:sp>
        <p:nvSpPr>
          <p:cNvPr id="70" name="Shape 57"/>
          <p:cNvSpPr/>
          <p:nvPr/>
        </p:nvSpPr>
        <p:spPr>
          <a:xfrm>
            <a:off x="4791456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58"/>
          <p:cNvSpPr/>
          <p:nvPr/>
        </p:nvSpPr>
        <p:spPr>
          <a:xfrm>
            <a:off x="4864608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Per-state breakdown</a:t>
            </a:r>
            <a:endParaRPr lang="en-US" sz="850" dirty="0"/>
          </a:p>
        </p:txBody>
      </p:sp>
      <p:sp>
        <p:nvSpPr>
          <p:cNvPr id="72" name="Shape 59"/>
          <p:cNvSpPr/>
          <p:nvPr/>
        </p:nvSpPr>
        <p:spPr>
          <a:xfrm>
            <a:off x="4837176" y="3520440"/>
            <a:ext cx="1719072" cy="32004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0"/>
          <p:cNvSpPr/>
          <p:nvPr/>
        </p:nvSpPr>
        <p:spPr>
          <a:xfrm>
            <a:off x="4837176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impacts</a:t>
            </a:r>
            <a:endParaRPr lang="en-US" sz="950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2240280"/>
            <a:ext cx="182880" cy="182880"/>
          </a:xfrm>
          <a:prstGeom prst="rect">
            <a:avLst/>
          </a:prstGeom>
        </p:spPr>
      </p:pic>
      <p:sp>
        <p:nvSpPr>
          <p:cNvPr id="75" name="Shape 61"/>
          <p:cNvSpPr/>
          <p:nvPr/>
        </p:nvSpPr>
        <p:spPr>
          <a:xfrm>
            <a:off x="6912864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62"/>
          <p:cNvSpPr/>
          <p:nvPr/>
        </p:nvSpPr>
        <p:spPr>
          <a:xfrm>
            <a:off x="6912864" y="1051560"/>
            <a:ext cx="1993392" cy="5029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63"/>
          <p:cNvSpPr/>
          <p:nvPr/>
        </p:nvSpPr>
        <p:spPr>
          <a:xfrm>
            <a:off x="7004304" y="1115568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5744" y="1207008"/>
            <a:ext cx="182880" cy="18288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7415784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80" name="Text 65"/>
          <p:cNvSpPr/>
          <p:nvPr/>
        </p:nvSpPr>
        <p:spPr>
          <a:xfrm>
            <a:off x="7415784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81" name="Shape 66"/>
          <p:cNvSpPr/>
          <p:nvPr/>
        </p:nvSpPr>
        <p:spPr>
          <a:xfrm>
            <a:off x="7022592" y="1618488"/>
            <a:ext cx="868680" cy="2926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1664208"/>
            <a:ext cx="182880" cy="18288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7278624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700" dirty="0"/>
          </a:p>
        </p:txBody>
      </p:sp>
      <p:sp>
        <p:nvSpPr>
          <p:cNvPr id="84" name="Shape 68"/>
          <p:cNvSpPr/>
          <p:nvPr/>
        </p:nvSpPr>
        <p:spPr>
          <a:xfrm>
            <a:off x="7982712" y="1618488"/>
            <a:ext cx="868680" cy="292608"/>
          </a:xfrm>
          <a:prstGeom prst="rect">
            <a:avLst/>
          </a:prstGeom>
          <a:solidFill>
            <a:srgbClr val="8259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5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8432" y="1664208"/>
            <a:ext cx="182880" cy="182880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8238744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writing</a:t>
            </a:r>
            <a:endParaRPr lang="en-US" sz="700" dirty="0"/>
          </a:p>
        </p:txBody>
      </p:sp>
      <p:sp>
        <p:nvSpPr>
          <p:cNvPr id="87" name="Shape 70"/>
          <p:cNvSpPr/>
          <p:nvPr/>
        </p:nvSpPr>
        <p:spPr>
          <a:xfrm>
            <a:off x="7004304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71"/>
          <p:cNvSpPr/>
          <p:nvPr/>
        </p:nvSpPr>
        <p:spPr>
          <a:xfrm>
            <a:off x="7077456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Regulation summary</a:t>
            </a:r>
            <a:endParaRPr lang="en-US" sz="850" dirty="0"/>
          </a:p>
        </p:txBody>
      </p:sp>
      <p:sp>
        <p:nvSpPr>
          <p:cNvPr id="89" name="Shape 72"/>
          <p:cNvSpPr/>
          <p:nvPr/>
        </p:nvSpPr>
        <p:spPr>
          <a:xfrm>
            <a:off x="7004304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73"/>
          <p:cNvSpPr/>
          <p:nvPr/>
        </p:nvSpPr>
        <p:spPr>
          <a:xfrm>
            <a:off x="7077456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Affected policies list</a:t>
            </a:r>
            <a:endParaRPr lang="en-US" sz="850" dirty="0"/>
          </a:p>
        </p:txBody>
      </p:sp>
      <p:sp>
        <p:nvSpPr>
          <p:cNvPr id="91" name="Shape 74"/>
          <p:cNvSpPr/>
          <p:nvPr/>
        </p:nvSpPr>
        <p:spPr>
          <a:xfrm>
            <a:off x="7004304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75"/>
          <p:cNvSpPr/>
          <p:nvPr/>
        </p:nvSpPr>
        <p:spPr>
          <a:xfrm>
            <a:off x="7077456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State-specific action items</a:t>
            </a:r>
            <a:endParaRPr lang="en-US" sz="850" dirty="0"/>
          </a:p>
        </p:txBody>
      </p:sp>
      <p:sp>
        <p:nvSpPr>
          <p:cNvPr id="93" name="Shape 76"/>
          <p:cNvSpPr/>
          <p:nvPr/>
        </p:nvSpPr>
        <p:spPr>
          <a:xfrm>
            <a:off x="7004304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77"/>
          <p:cNvSpPr/>
          <p:nvPr/>
        </p:nvSpPr>
        <p:spPr>
          <a:xfrm>
            <a:off x="7077456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Deadlines &amp; next steps</a:t>
            </a:r>
            <a:endParaRPr lang="en-US" sz="850" dirty="0"/>
          </a:p>
        </p:txBody>
      </p:sp>
      <p:sp>
        <p:nvSpPr>
          <p:cNvPr id="95" name="Shape 78"/>
          <p:cNvSpPr/>
          <p:nvPr/>
        </p:nvSpPr>
        <p:spPr>
          <a:xfrm>
            <a:off x="7050024" y="3520440"/>
            <a:ext cx="1719072" cy="3200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79"/>
          <p:cNvSpPr/>
          <p:nvPr/>
        </p:nvSpPr>
        <p:spPr>
          <a:xfrm>
            <a:off x="7050024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memos</a:t>
            </a:r>
            <a:endParaRPr lang="en-US" sz="950" dirty="0"/>
          </a:p>
        </p:txBody>
      </p:sp>
      <p:sp>
        <p:nvSpPr>
          <p:cNvPr id="97" name="Shape 80"/>
          <p:cNvSpPr/>
          <p:nvPr/>
        </p:nvSpPr>
        <p:spPr>
          <a:xfrm>
            <a:off x="0" y="4114800"/>
            <a:ext cx="9144000" cy="36576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81"/>
          <p:cNvSpPr/>
          <p:nvPr/>
        </p:nvSpPr>
        <p:spPr>
          <a:xfrm>
            <a:off x="274320" y="4251960"/>
            <a:ext cx="8595360" cy="822960"/>
          </a:xfrm>
          <a:prstGeom prst="rect">
            <a:avLst/>
          </a:prstGeom>
          <a:solidFill>
            <a:srgbClr val="FDF8F3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Shape 82"/>
          <p:cNvSpPr/>
          <p:nvPr/>
        </p:nvSpPr>
        <p:spPr>
          <a:xfrm>
            <a:off x="274320" y="4251960"/>
            <a:ext cx="54864" cy="822960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83"/>
          <p:cNvSpPr/>
          <p:nvPr/>
        </p:nvSpPr>
        <p:spPr>
          <a:xfrm>
            <a:off x="502920" y="4279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architecture?</a:t>
            </a:r>
            <a:endParaRPr lang="en-US" sz="1100" dirty="0"/>
          </a:p>
        </p:txBody>
      </p:sp>
      <p:sp>
        <p:nvSpPr>
          <p:cNvPr id="101" name="Text 84"/>
          <p:cNvSpPr/>
          <p:nvPr/>
        </p:nvSpPr>
        <p:spPr>
          <a:xfrm>
            <a:off x="502920" y="4498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independently testable, improvable, and scalable. Adding a new state, data source, or product line requires updating only the relevant agent — not the entire system. </a:t>
            </a:r>
            <a:r>
              <a:rPr lang="en-US" sz="1100" b="1" dirty="0">
                <a:solidFill>
                  <a:srgbClr val="B8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modular design enables rapid deployment across carriers and jurisdictions.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417</Words>
  <Application>Microsoft Office PowerPoint</Application>
  <PresentationFormat>On-screen Show (16:9)</PresentationFormat>
  <Paragraphs>67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Change Monitor — Executive Brief</dc:title>
  <dc:subject>PptxGenJS Presentation</dc:subject>
  <dc:creator>Sanjib</dc:creator>
  <cp:lastModifiedBy>Office</cp:lastModifiedBy>
  <cp:revision>2</cp:revision>
  <dcterms:created xsi:type="dcterms:W3CDTF">2026-03-18T18:49:39Z</dcterms:created>
  <dcterms:modified xsi:type="dcterms:W3CDTF">2026-03-18T19:03:52Z</dcterms:modified>
</cp:coreProperties>
</file>